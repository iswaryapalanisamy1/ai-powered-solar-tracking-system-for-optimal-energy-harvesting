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9" r:id="rId2"/>
    <p:sldId id="262" r:id="rId3"/>
    <p:sldId id="267" r:id="rId4"/>
    <p:sldId id="263" r:id="rId5"/>
    <p:sldId id="264" r:id="rId6"/>
    <p:sldId id="265" r:id="rId7"/>
    <p:sldId id="268" r:id="rId8"/>
    <p:sldId id="282" r:id="rId9"/>
    <p:sldId id="283" r:id="rId10"/>
    <p:sldId id="269" r:id="rId11"/>
    <p:sldId id="270" r:id="rId12"/>
    <p:sldId id="275" r:id="rId13"/>
    <p:sldId id="271" r:id="rId14"/>
    <p:sldId id="274" r:id="rId15"/>
    <p:sldId id="276" r:id="rId16"/>
    <p:sldId id="277" r:id="rId17"/>
    <p:sldId id="278" r:id="rId18"/>
    <p:sldId id="279" r:id="rId19"/>
    <p:sldId id="280"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41"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3051BB-7020-6CDA-F623-B1EF800D7F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BDA6634-998E-895E-6374-4CBF169F31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id="{184954F6-2C88-45D6-3E13-60FE9F32A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6F6A700-C2A2-822E-505C-0A663BD75C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D2B6FE-F3D4-45E7-A59D-2636C327EC2B}" type="slidenum">
              <a:rPr lang="en-IN" smtClean="0"/>
              <a:pPr/>
              <a:t>‹#›</a:t>
            </a:fld>
            <a:endParaRPr lang="en-IN"/>
          </a:p>
        </p:txBody>
      </p:sp>
    </p:spTree>
    <p:extLst>
      <p:ext uri="{BB962C8B-B14F-4D97-AF65-F5344CB8AC3E}">
        <p14:creationId xmlns:p14="http://schemas.microsoft.com/office/powerpoint/2010/main" val="1513965526"/>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6FE0ED-EEA7-429A-AA6D-BF10371DBF59}" type="slidenum">
              <a:rPr lang="en-IN" smtClean="0"/>
              <a:pPr/>
              <a:t>‹#›</a:t>
            </a:fld>
            <a:endParaRPr lang="en-IN"/>
          </a:p>
        </p:txBody>
      </p:sp>
    </p:spTree>
    <p:extLst>
      <p:ext uri="{BB962C8B-B14F-4D97-AF65-F5344CB8AC3E}">
        <p14:creationId xmlns:p14="http://schemas.microsoft.com/office/powerpoint/2010/main" val="1440040988"/>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386923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061034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912573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3257776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33084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2971632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67313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458086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409141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219642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01528-9B91-4E1D-B780-4756D7A5B230}" type="datetimeFigureOut">
              <a:rPr lang="en-IN" smtClean="0"/>
              <a:pPr/>
              <a:t>06-06-2025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F04DAD-6FC7-491D-82CC-E8CDA596BFB0}" type="slidenum">
              <a:rPr lang="en-IN" smtClean="0"/>
              <a:pPr/>
              <a:t>‹#›</a:t>
            </a:fld>
            <a:endParaRPr lang="en-IN"/>
          </a:p>
        </p:txBody>
      </p:sp>
    </p:spTree>
    <p:extLst>
      <p:ext uri="{BB962C8B-B14F-4D97-AF65-F5344CB8AC3E}">
        <p14:creationId xmlns:p14="http://schemas.microsoft.com/office/powerpoint/2010/main" val="1662210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401528-9B91-4E1D-B780-4756D7A5B230}" type="datetimeFigureOut">
              <a:rPr lang="en-IN" smtClean="0"/>
              <a:pPr/>
              <a:t>06-06-2025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04DAD-6FC7-491D-82CC-E8CDA596BFB0}" type="slidenum">
              <a:rPr lang="en-IN" smtClean="0"/>
              <a:pPr/>
              <a:t>‹#›</a:t>
            </a:fld>
            <a:endParaRPr lang="en-IN"/>
          </a:p>
        </p:txBody>
      </p:sp>
    </p:spTree>
    <p:extLst>
      <p:ext uri="{BB962C8B-B14F-4D97-AF65-F5344CB8AC3E}">
        <p14:creationId xmlns:p14="http://schemas.microsoft.com/office/powerpoint/2010/main" val="2500213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18715" y="1696728"/>
            <a:ext cx="5743272" cy="461665"/>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       </a:t>
            </a:r>
          </a:p>
        </p:txBody>
      </p:sp>
      <p:sp>
        <p:nvSpPr>
          <p:cNvPr id="3" name="Rectangle 2"/>
          <p:cNvSpPr/>
          <p:nvPr/>
        </p:nvSpPr>
        <p:spPr>
          <a:xfrm>
            <a:off x="0" y="1268361"/>
            <a:ext cx="12192000" cy="400110"/>
          </a:xfrm>
          <a:prstGeom prst="rect">
            <a:avLst/>
          </a:prstGeom>
        </p:spPr>
        <p:txBody>
          <a:bodyPr wrap="square">
            <a:spAutoFit/>
          </a:bodyPr>
          <a:lstStyle/>
          <a:p>
            <a:pPr algn="ctr"/>
            <a:r>
              <a:rPr lang="en-US" sz="2000" b="1" dirty="0">
                <a:latin typeface="Times New Roman" panose="02020603050405020304" pitchFamily="18" charset="0"/>
                <a:cs typeface="Times New Roman" panose="02020603050405020304" pitchFamily="18" charset="0"/>
              </a:rPr>
              <a:t>DEPARTMENT OF ELECTRICAL AND ELECTRONICS ENGINEERING</a:t>
            </a:r>
            <a:endParaRPr lang="en-US" sz="2000" b="1" dirty="0"/>
          </a:p>
        </p:txBody>
      </p:sp>
      <p:sp>
        <p:nvSpPr>
          <p:cNvPr id="7" name="Rectangle 6"/>
          <p:cNvSpPr/>
          <p:nvPr/>
        </p:nvSpPr>
        <p:spPr>
          <a:xfrm>
            <a:off x="1" y="2870435"/>
            <a:ext cx="12191999" cy="553998"/>
          </a:xfrm>
          <a:prstGeom prst="rect">
            <a:avLst/>
          </a:prstGeom>
        </p:spPr>
        <p:txBody>
          <a:bodyPr wrap="square">
            <a:spAutoFit/>
          </a:bodyPr>
          <a:lstStyle/>
          <a:p>
            <a:pPr algn="ctr"/>
            <a:endParaRPr lang="en-US" sz="3000" b="1" dirty="0">
              <a:solidFill>
                <a:schemeClr val="accent5"/>
              </a:solidFill>
              <a:latin typeface="Algerian" panose="04020705040A02060702" pitchFamily="82" charset="0"/>
            </a:endParaRPr>
          </a:p>
        </p:txBody>
      </p:sp>
      <p:sp>
        <p:nvSpPr>
          <p:cNvPr id="9" name="Rectangle 8"/>
          <p:cNvSpPr/>
          <p:nvPr/>
        </p:nvSpPr>
        <p:spPr>
          <a:xfrm>
            <a:off x="437208" y="5292778"/>
            <a:ext cx="3576319" cy="400110"/>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       </a:t>
            </a:r>
            <a:endParaRPr lang="en-US" b="1" dirty="0"/>
          </a:p>
        </p:txBody>
      </p:sp>
      <p:sp>
        <p:nvSpPr>
          <p:cNvPr id="10" name="Rectangle 9"/>
          <p:cNvSpPr/>
          <p:nvPr/>
        </p:nvSpPr>
        <p:spPr>
          <a:xfrm>
            <a:off x="6096000" y="3768276"/>
            <a:ext cx="6477046" cy="1785104"/>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PRESENTED BY: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INDHU SADASIVAM         (927623BEE034)</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ISWARYA.P	              (927622BEE035)</a:t>
            </a:r>
          </a:p>
          <a:p>
            <a:r>
              <a:rPr lang="en-US" dirty="0">
                <a:latin typeface="Times New Roman" panose="02020603050405020304" pitchFamily="18" charset="0"/>
                <a:cs typeface="Times New Roman" panose="02020603050405020304" pitchFamily="18" charset="0"/>
              </a:rPr>
              <a:t>KARNIKA.D                        (927623BEE039)</a:t>
            </a:r>
          </a:p>
          <a:p>
            <a:r>
              <a:rPr lang="en-US" dirty="0">
                <a:latin typeface="Times New Roman" panose="02020603050405020304" pitchFamily="18" charset="0"/>
                <a:cs typeface="Times New Roman" panose="02020603050405020304" pitchFamily="18" charset="0"/>
              </a:rPr>
              <a:t>KARUNYA SHREE .S         (927622BEE042)</a:t>
            </a:r>
          </a:p>
        </p:txBody>
      </p:sp>
      <p:pic>
        <p:nvPicPr>
          <p:cNvPr id="11" name="Picture 10">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12" name="Picture 11">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6" name="Picture 5"/>
          <p:cNvPicPr>
            <a:picLocks noChangeAspect="1"/>
          </p:cNvPicPr>
          <p:nvPr/>
        </p:nvPicPr>
        <p:blipFill>
          <a:blip r:embed="rId4" cstate="print"/>
          <a:stretch>
            <a:fillRect/>
          </a:stretch>
        </p:blipFill>
        <p:spPr>
          <a:xfrm>
            <a:off x="5697795" y="265268"/>
            <a:ext cx="979948" cy="736822"/>
          </a:xfrm>
          <a:prstGeom prst="rect">
            <a:avLst/>
          </a:prstGeom>
        </p:spPr>
      </p:pic>
      <p:sp>
        <p:nvSpPr>
          <p:cNvPr id="15" name="TextBox 14">
            <a:extLst>
              <a:ext uri="{FF2B5EF4-FFF2-40B4-BE49-F238E27FC236}">
                <a16:creationId xmlns:a16="http://schemas.microsoft.com/office/drawing/2014/main" id="{D25CA271-96D2-C244-4886-240251C1D582}"/>
              </a:ext>
            </a:extLst>
          </p:cNvPr>
          <p:cNvSpPr txBox="1"/>
          <p:nvPr/>
        </p:nvSpPr>
        <p:spPr>
          <a:xfrm>
            <a:off x="0" y="1731985"/>
            <a:ext cx="12192000" cy="400110"/>
          </a:xfrm>
          <a:prstGeom prst="rect">
            <a:avLst/>
          </a:prstGeom>
          <a:noFill/>
        </p:spPr>
        <p:txBody>
          <a:bodyPr wrap="square">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EEB1233- DESIGN THINKING LABORATORY</a:t>
            </a:r>
          </a:p>
        </p:txBody>
      </p:sp>
      <p:sp>
        <p:nvSpPr>
          <p:cNvPr id="17" name="TextBox 16">
            <a:extLst>
              <a:ext uri="{FF2B5EF4-FFF2-40B4-BE49-F238E27FC236}">
                <a16:creationId xmlns:a16="http://schemas.microsoft.com/office/drawing/2014/main" id="{84E93011-3454-46D6-8AA0-ACDF067DE3B1}"/>
              </a:ext>
            </a:extLst>
          </p:cNvPr>
          <p:cNvSpPr txBox="1"/>
          <p:nvPr/>
        </p:nvSpPr>
        <p:spPr>
          <a:xfrm>
            <a:off x="942392" y="4051337"/>
            <a:ext cx="3331028" cy="1200329"/>
          </a:xfrm>
          <a:prstGeom prst="rect">
            <a:avLst/>
          </a:prstGeom>
          <a:noFill/>
        </p:spPr>
        <p:txBody>
          <a:bodyPr wrap="square">
            <a:spAutoFit/>
          </a:bodyPr>
          <a:lstStyle/>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YEAR/ SEMESTER – II/IV</a:t>
            </a:r>
          </a:p>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BATCH NUMBER : 14</a:t>
            </a:r>
          </a:p>
          <a:p>
            <a:pPr>
              <a:lnSpc>
                <a:spcPct val="150000"/>
              </a:lnSpc>
            </a:pPr>
            <a:r>
              <a:rPr lang="en-US" sz="1600" b="1" dirty="0">
                <a:solidFill>
                  <a:srgbClr val="7030A0"/>
                </a:solidFill>
                <a:latin typeface="Times New Roman" panose="02020603050405020304" pitchFamily="18" charset="0"/>
                <a:cs typeface="Times New Roman" panose="02020603050405020304" pitchFamily="18" charset="0"/>
              </a:rPr>
              <a:t>DATE :06.06.2025</a:t>
            </a:r>
            <a:endParaRPr lang="en-US" sz="1600" b="1" dirty="0">
              <a:solidFill>
                <a:srgbClr val="7030A0"/>
              </a:solidFill>
            </a:endParaRPr>
          </a:p>
        </p:txBody>
      </p:sp>
      <p:sp>
        <p:nvSpPr>
          <p:cNvPr id="20" name="TextBox 19">
            <a:extLst>
              <a:ext uri="{FF2B5EF4-FFF2-40B4-BE49-F238E27FC236}">
                <a16:creationId xmlns:a16="http://schemas.microsoft.com/office/drawing/2014/main" id="{0BEDF041-0DED-A3E5-7109-BD6C6104408D}"/>
              </a:ext>
            </a:extLst>
          </p:cNvPr>
          <p:cNvSpPr txBox="1"/>
          <p:nvPr/>
        </p:nvSpPr>
        <p:spPr>
          <a:xfrm>
            <a:off x="0" y="2243531"/>
            <a:ext cx="12192000" cy="646331"/>
          </a:xfrm>
          <a:prstGeom prst="rect">
            <a:avLst/>
          </a:prstGeom>
          <a:noFill/>
        </p:spPr>
        <p:txBody>
          <a:bodyPr wrap="square">
            <a:spAutoFit/>
          </a:bodyPr>
          <a:lstStyle/>
          <a:p>
            <a:pPr algn="ctr"/>
            <a:r>
              <a:rPr lang="en-US" b="1" dirty="0">
                <a:solidFill>
                  <a:schemeClr val="accent5"/>
                </a:solidFill>
                <a:latin typeface="Algerian" panose="04020705040A02060702" pitchFamily="82" charset="0"/>
              </a:rPr>
              <a:t>AI POWERED SOLAR TRACKING SYSTEM FOR OPTIMAL ENERGY HARVESTING</a:t>
            </a:r>
            <a:endParaRPr lang="en-US" sz="1800" b="1" dirty="0">
              <a:solidFill>
                <a:schemeClr val="accent5"/>
              </a:solidFill>
              <a:latin typeface="Algerian" panose="04020705040A02060702" pitchFamily="82" charset="0"/>
            </a:endParaRPr>
          </a:p>
          <a:p>
            <a:pPr algn="ctr"/>
            <a:endParaRPr lang="en-US" sz="1800" b="1" dirty="0"/>
          </a:p>
        </p:txBody>
      </p:sp>
    </p:spTree>
    <p:extLst>
      <p:ext uri="{BB962C8B-B14F-4D97-AF65-F5344CB8AC3E}">
        <p14:creationId xmlns:p14="http://schemas.microsoft.com/office/powerpoint/2010/main" val="3925159884"/>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314" y="2067271"/>
            <a:ext cx="11430000" cy="4094198"/>
          </a:xfrm>
          <a:prstGeom prst="rect">
            <a:avLst/>
          </a:prstGeom>
        </p:spPr>
        <p:txBody>
          <a:bodyPr wrap="square">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This project focuses on AI-powered solar tracking system designed to maximize energy harvesting by automatically adjusting the position of a solar panel based on sunlight intensity. Using light-dependent resistors (LDRs), the system detects the direction of maximum sunlight and rotates the panel using a servo motor. An Arduino microcontroller processes the sensor data, while a voltage sensor monitors power output. The system includes a battery for energy storage and a buck converter for stable power </a:t>
            </a:r>
            <a:r>
              <a:rPr lang="en-US" sz="2200" dirty="0" err="1">
                <a:latin typeface="Times New Roman" panose="02020603050405020304" pitchFamily="18" charset="0"/>
                <a:cs typeface="Times New Roman" panose="02020603050405020304" pitchFamily="18" charset="0"/>
              </a:rPr>
              <a:t>supply.It</a:t>
            </a:r>
            <a:r>
              <a:rPr lang="en-US" sz="2200" dirty="0">
                <a:latin typeface="Times New Roman" panose="02020603050405020304" pitchFamily="18" charset="0"/>
                <a:cs typeface="Times New Roman" panose="02020603050405020304" pitchFamily="18" charset="0"/>
              </a:rPr>
              <a:t> can further optimize tracking efficiency by learning sun movement patterns. This low-cost,30-40% energy-efficient setup and power of 1.6-7.6W is ideal for sustainable energy applications in both rural and urban areas.</a:t>
            </a:r>
            <a:endParaRPr lang="en-IN" sz="22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ABSTRACT</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606026" y="269154"/>
            <a:ext cx="979948" cy="736822"/>
          </a:xfrm>
          <a:prstGeom prst="rect">
            <a:avLst/>
          </a:prstGeom>
        </p:spPr>
      </p:pic>
    </p:spTree>
    <p:extLst>
      <p:ext uri="{BB962C8B-B14F-4D97-AF65-F5344CB8AC3E}">
        <p14:creationId xmlns:p14="http://schemas.microsoft.com/office/powerpoint/2010/main" val="1198310589"/>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5124" y="1922765"/>
            <a:ext cx="11280109" cy="5109860"/>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Users include rural households, small-scale solar energy adopters, and schools or institutions using solar setups. </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Interviews and surveys revealed that users struggle with inconsistent solar power, limited technical knowledge, and lack of affordable tracking systems.</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 common need was for a low-cost, easy-to-use, self-adjusting solar solution that could improve efficiency without requiring manual intervention.</a:t>
            </a:r>
          </a:p>
          <a:p>
            <a:pPr algn="just">
              <a:lnSpc>
                <a:spcPct val="150000"/>
              </a:lnSpc>
            </a:pPr>
            <a:r>
              <a:rPr lang="en-US" sz="2200" b="1" dirty="0">
                <a:latin typeface="Times New Roman" panose="02020603050405020304" pitchFamily="18" charset="0"/>
                <a:cs typeface="Times New Roman" panose="02020603050405020304" pitchFamily="18" charset="0"/>
              </a:rPr>
              <a:t>User Persona Example:</a:t>
            </a:r>
            <a:endParaRPr lang="en-US" sz="2200" dirty="0">
              <a:latin typeface="Times New Roman" panose="02020603050405020304" pitchFamily="18" charset="0"/>
              <a:cs typeface="Times New Roman" panose="02020603050405020304" pitchFamily="18" charset="0"/>
            </a:endParaRPr>
          </a:p>
          <a:p>
            <a:pPr algn="just">
              <a:lnSpc>
                <a:spcPct val="150000"/>
              </a:lnSpc>
            </a:pPr>
            <a:r>
              <a:rPr lang="en-US" sz="2200" i="1" dirty="0">
                <a:latin typeface="Times New Roman" panose="02020603050405020304" pitchFamily="18" charset="0"/>
                <a:cs typeface="Times New Roman" panose="02020603050405020304" pitchFamily="18" charset="0"/>
              </a:rPr>
              <a:t>Ravi</a:t>
            </a:r>
            <a:r>
              <a:rPr lang="en-US" sz="2200" dirty="0">
                <a:latin typeface="Times New Roman" panose="02020603050405020304" pitchFamily="18" charset="0"/>
                <a:cs typeface="Times New Roman" panose="02020603050405020304" pitchFamily="18" charset="0"/>
              </a:rPr>
              <a:t>, a farmer in a remote village, relies on solar power for water pumps but loses efficiency due to static panel placement.</a:t>
            </a:r>
          </a:p>
          <a:p>
            <a:pPr algn="just">
              <a:lnSpc>
                <a:spcPct val="150000"/>
              </a:lnSpc>
            </a:pPr>
            <a:endParaRPr lang="en-US" sz="2200"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EMPHATHY PHASE – UNDERSTANDING THE USER</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Tree>
    <p:extLst>
      <p:ext uri="{BB962C8B-B14F-4D97-AF65-F5344CB8AC3E}">
        <p14:creationId xmlns:p14="http://schemas.microsoft.com/office/powerpoint/2010/main" val="3199636619"/>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DEFINE PHASE – USER NEEDS &amp; PROBLEM DEFINITION</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AAAE5DE4-4500-32E1-BFF7-B31EA839F91B}"/>
              </a:ext>
            </a:extLst>
          </p:cNvPr>
          <p:cNvSpPr txBox="1"/>
          <p:nvPr/>
        </p:nvSpPr>
        <p:spPr>
          <a:xfrm>
            <a:off x="479901" y="1817755"/>
            <a:ext cx="11232197" cy="5109860"/>
          </a:xfrm>
          <a:prstGeom prst="rect">
            <a:avLst/>
          </a:prstGeom>
          <a:noFill/>
        </p:spPr>
        <p:txBody>
          <a:bodyPr wrap="square">
            <a:sp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User Needs:</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Efficient solar energy collection</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Affordable automation</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Systems that work with minimal maintenance.</a:t>
            </a:r>
          </a:p>
          <a:p>
            <a:pPr marL="342900" indent="-342900" algn="just">
              <a:lnSpc>
                <a:spcPct val="150000"/>
              </a:lnSpc>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algn="just">
              <a:lnSpc>
                <a:spcPct val="150000"/>
              </a:lnSpc>
            </a:pPr>
            <a:r>
              <a:rPr lang="en-US" sz="2200" b="1" dirty="0">
                <a:latin typeface="Times New Roman" panose="02020603050405020304" pitchFamily="18" charset="0"/>
                <a:cs typeface="Times New Roman" panose="02020603050405020304" pitchFamily="18" charset="0"/>
              </a:rPr>
              <a:t>How Might We Statements:</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How might we create a low-cost, automated solar tracking system to help users maximize energy output?</a:t>
            </a:r>
          </a:p>
          <a:p>
            <a:pPr marL="342900" indent="-34290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How might we ensure the system adapts to sunlight direction without user effort?</a:t>
            </a:r>
          </a:p>
          <a:p>
            <a:pPr marL="285750" indent="-285750" algn="just">
              <a:lnSpc>
                <a:spcPct val="150000"/>
              </a:lnSpc>
              <a:buFont typeface="Wingdings" panose="05000000000000000000" pitchFamily="2" charset="2"/>
              <a:buChar char="Ø"/>
            </a:pPr>
            <a:endParaRPr lang="en-GB" sz="22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8310589"/>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178887" y="1263836"/>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IDEATE PHASE – BRAINSTROMING SOLUTIONS</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7" name="TextBox 6">
            <a:extLst>
              <a:ext uri="{FF2B5EF4-FFF2-40B4-BE49-F238E27FC236}">
                <a16:creationId xmlns:a16="http://schemas.microsoft.com/office/drawing/2014/main" id="{B3D4A704-58FA-4546-30B9-B41E2D5F4A9D}"/>
              </a:ext>
            </a:extLst>
          </p:cNvPr>
          <p:cNvSpPr txBox="1"/>
          <p:nvPr/>
        </p:nvSpPr>
        <p:spPr>
          <a:xfrm>
            <a:off x="435759" y="2159836"/>
            <a:ext cx="11270217" cy="400110"/>
          </a:xfrm>
          <a:prstGeom prst="rect">
            <a:avLst/>
          </a:prstGeom>
          <a:noFill/>
        </p:spPr>
        <p:txBody>
          <a:bodyPr wrap="square">
            <a:spAutoFit/>
          </a:bodyPr>
          <a:lstStyle/>
          <a:p>
            <a:pPr marL="285750" indent="-285750" algn="just">
              <a:buFont typeface="Wingdings" panose="05000000000000000000" pitchFamily="2" charset="2"/>
              <a:buChar char="Ø"/>
            </a:pPr>
            <a:endParaRPr lang="en-GB" sz="2000" dirty="0">
              <a:solidFill>
                <a:srgbClr val="000000"/>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5D21D6A8-47CF-C2B0-1AEE-8A45B698FC4A}"/>
              </a:ext>
            </a:extLst>
          </p:cNvPr>
          <p:cNvSpPr>
            <a:spLocks noChangeArrowheads="1"/>
          </p:cNvSpPr>
          <p:nvPr/>
        </p:nvSpPr>
        <p:spPr bwMode="auto">
          <a:xfrm>
            <a:off x="524234" y="1798835"/>
            <a:ext cx="11143531"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Ideas Generated:</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rotatable panels</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AI-controlled panel tracking with LDRs</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App-based solar angle notifier</a:t>
            </a:r>
          </a:p>
          <a:p>
            <a:pPr marR="0" lvl="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 Idea:</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AI-integrated automatic solar tracker using Arduino and sensors.</a:t>
            </a:r>
          </a:p>
          <a:p>
            <a:pPr lvl="0" eaLnBrk="0" fontAlgn="base" hangingPunct="0">
              <a:lnSpc>
                <a:spcPct val="150000"/>
              </a:lnSpc>
              <a:spcBef>
                <a:spcPct val="0"/>
              </a:spcBef>
              <a:spcAft>
                <a:spcPct val="0"/>
              </a:spcAft>
            </a:pPr>
            <a:r>
              <a:rPr lang="en-IN" sz="2200" b="1" dirty="0">
                <a:latin typeface="Times New Roman" panose="02020603050405020304" pitchFamily="18" charset="0"/>
                <a:cs typeface="Times New Roman" panose="02020603050405020304" pitchFamily="18" charset="0"/>
              </a:rPr>
              <a:t>Mind Map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Central Idea: Smart Solar Tracking → Arduino → Sensors → Servo Motors → </a:t>
            </a:r>
          </a:p>
          <a:p>
            <a:pPr lvl="0" eaLnBrk="0" fontAlgn="base" hangingPunct="0">
              <a:lnSpc>
                <a:spcPct val="150000"/>
              </a:lnSpc>
              <a:spcBef>
                <a:spcPct val="0"/>
              </a:spcBef>
              <a:spcAft>
                <a:spcPct val="0"/>
              </a:spcAft>
            </a:pPr>
            <a:r>
              <a:rPr lang="en-IN" sz="2200" dirty="0">
                <a:latin typeface="Times New Roman" panose="02020603050405020304" pitchFamily="18" charset="0"/>
                <a:cs typeface="Times New Roman" panose="02020603050405020304" pitchFamily="18" charset="0"/>
              </a:rPr>
              <a:t>Energy Monitoring→ User Display</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8310589"/>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5708" y="1136356"/>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PROPOSED IDEA/SOLUTION OVERVIEW</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5" name="Rectangle 1">
            <a:extLst>
              <a:ext uri="{FF2B5EF4-FFF2-40B4-BE49-F238E27FC236}">
                <a16:creationId xmlns:a16="http://schemas.microsoft.com/office/drawing/2014/main" id="{71492135-B536-74DC-53C2-003200C91C91}"/>
              </a:ext>
            </a:extLst>
          </p:cNvPr>
          <p:cNvSpPr>
            <a:spLocks noChangeArrowheads="1"/>
          </p:cNvSpPr>
          <p:nvPr/>
        </p:nvSpPr>
        <p:spPr bwMode="auto">
          <a:xfrm>
            <a:off x="340936" y="1556412"/>
            <a:ext cx="11645356"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Description:</a:t>
            </a:r>
            <a:b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smart system that uses Light Dependent Resistors (LDRs) to detect sunlight direction, then rotates the solar panel accordingly using servo motors controlled by an Arduino.</a:t>
            </a:r>
          </a:p>
          <a:p>
            <a:pPr marL="0" marR="0" lvl="0" indent="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tracking of sunlight</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voltage display</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Battery-backed system</a:t>
            </a:r>
          </a:p>
          <a:p>
            <a:pPr marL="342900" marR="0" lvl="0" indent="-34290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Compact and cost-effective</a:t>
            </a:r>
          </a:p>
          <a:p>
            <a:pPr marL="0" marR="0" lvl="0" indent="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Solves the Problem:</a:t>
            </a:r>
            <a:b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Increases panel efficiency, requires no manual adjustment, and is affordable and scalable.</a:t>
            </a:r>
          </a:p>
        </p:txBody>
      </p:sp>
    </p:spTree>
    <p:extLst>
      <p:ext uri="{BB962C8B-B14F-4D97-AF65-F5344CB8AC3E}">
        <p14:creationId xmlns:p14="http://schemas.microsoft.com/office/powerpoint/2010/main" val="1198310589"/>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PROTOTYPE PHASE – BUILDING THE CONCEPT</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4" name="TextBox 3">
            <a:extLst>
              <a:ext uri="{FF2B5EF4-FFF2-40B4-BE49-F238E27FC236}">
                <a16:creationId xmlns:a16="http://schemas.microsoft.com/office/drawing/2014/main" id="{46102B71-01B1-D924-A734-F2E610CDB062}"/>
              </a:ext>
            </a:extLst>
          </p:cNvPr>
          <p:cNvSpPr txBox="1"/>
          <p:nvPr/>
        </p:nvSpPr>
        <p:spPr>
          <a:xfrm>
            <a:off x="547247" y="2161964"/>
            <a:ext cx="10954138" cy="3586366"/>
          </a:xfrm>
          <a:prstGeom prst="rect">
            <a:avLst/>
          </a:prstGeom>
          <a:noFill/>
        </p:spPr>
        <p:txBody>
          <a:bodyPr wrap="square">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Prototype Description:</a:t>
            </a:r>
          </a:p>
          <a:p>
            <a:pPr algn="just">
              <a:lnSpc>
                <a:spcPct val="150000"/>
              </a:lnSpc>
            </a:pPr>
            <a:r>
              <a:rPr lang="en-IN" sz="2200" dirty="0">
                <a:latin typeface="Times New Roman" panose="02020603050405020304" pitchFamily="18" charset="0"/>
                <a:cs typeface="Times New Roman" panose="02020603050405020304" pitchFamily="18" charset="0"/>
              </a:rPr>
              <a:t>This is a solar tracking system designed to enhance energy harvesting by aligning the solar panel to the direction of maximum sunlight using Light Dependent Resistors (LDRs) and a servo motor. An Arduino UNO acts as the central controller. The system senses the sunlight intensity using LDR sensors and accordingly rotates the solar panel via a servo motor for optimal alignment. Power management, voltage monitoring, and real-time display are integrated for efficiency.</a:t>
            </a:r>
          </a:p>
        </p:txBody>
      </p:sp>
    </p:spTree>
    <p:extLst>
      <p:ext uri="{BB962C8B-B14F-4D97-AF65-F5344CB8AC3E}">
        <p14:creationId xmlns:p14="http://schemas.microsoft.com/office/powerpoint/2010/main" val="68512638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CA17-93F4-FC33-9349-197BC1F3B31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7FF40DE-9CBF-B0FA-304B-A2878EA08AB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PROTOTYPE PHASE – BUILDING THE CONCEPT</a:t>
            </a:r>
          </a:p>
        </p:txBody>
      </p:sp>
      <p:pic>
        <p:nvPicPr>
          <p:cNvPr id="8" name="Picture 7">
            <a:extLst>
              <a:ext uri="{FF2B5EF4-FFF2-40B4-BE49-F238E27FC236}">
                <a16:creationId xmlns:a16="http://schemas.microsoft.com/office/drawing/2014/main" id="{A3015966-D28D-FE10-7437-84C71E9BE67C}"/>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A7CE3FA9-EE43-3DE0-0C07-65186AFA3D76}"/>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a:extLst>
              <a:ext uri="{FF2B5EF4-FFF2-40B4-BE49-F238E27FC236}">
                <a16:creationId xmlns:a16="http://schemas.microsoft.com/office/drawing/2014/main" id="{A0771C5F-6FAE-A5EA-4AAF-55314CE5CD56}"/>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4" name="TextBox 3">
            <a:extLst>
              <a:ext uri="{FF2B5EF4-FFF2-40B4-BE49-F238E27FC236}">
                <a16:creationId xmlns:a16="http://schemas.microsoft.com/office/drawing/2014/main" id="{1D0C5BAF-6742-A164-8144-D738DCE26C2D}"/>
              </a:ext>
            </a:extLst>
          </p:cNvPr>
          <p:cNvSpPr txBox="1"/>
          <p:nvPr/>
        </p:nvSpPr>
        <p:spPr>
          <a:xfrm>
            <a:off x="668545" y="2609833"/>
            <a:ext cx="10954138" cy="3139321"/>
          </a:xfrm>
          <a:prstGeom prst="rect">
            <a:avLst/>
          </a:prstGeom>
          <a:noFill/>
        </p:spPr>
        <p:txBody>
          <a:bodyPr wrap="square">
            <a:spAutoFit/>
          </a:bodyPr>
          <a:lstStyle/>
          <a:p>
            <a:pPr marL="457200" indent="-4572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Arduino UNO (5V) : </a:t>
            </a:r>
            <a:r>
              <a:rPr lang="en-US" sz="2200" dirty="0">
                <a:latin typeface="Times New Roman" panose="02020603050405020304" pitchFamily="18" charset="0"/>
                <a:cs typeface="Times New Roman" panose="02020603050405020304" pitchFamily="18" charset="0"/>
              </a:rPr>
              <a:t>Microcontroller board that controls the entire system.</a:t>
            </a:r>
          </a:p>
          <a:p>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Servo Motor : </a:t>
            </a:r>
            <a:r>
              <a:rPr lang="en-US" sz="2200" dirty="0">
                <a:latin typeface="Times New Roman" panose="02020603050405020304" pitchFamily="18" charset="0"/>
                <a:cs typeface="Times New Roman" panose="02020603050405020304" pitchFamily="18" charset="0"/>
              </a:rPr>
              <a:t>Rotates the solar panel based on light direction.</a:t>
            </a:r>
          </a:p>
          <a:p>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LDR Sensor (5V) : </a:t>
            </a:r>
            <a:r>
              <a:rPr lang="en-US" sz="2200" dirty="0">
                <a:latin typeface="Times New Roman" panose="02020603050405020304" pitchFamily="18" charset="0"/>
                <a:cs typeface="Times New Roman" panose="02020603050405020304" pitchFamily="18" charset="0"/>
              </a:rPr>
              <a:t>Detects sunlight intensity to determine panel alignment.</a:t>
            </a:r>
          </a:p>
          <a:p>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Solar Panel (6V) : </a:t>
            </a:r>
            <a:r>
              <a:rPr lang="en-US" sz="2200" dirty="0">
                <a:latin typeface="Times New Roman" panose="02020603050405020304" pitchFamily="18" charset="0"/>
                <a:cs typeface="Times New Roman" panose="02020603050405020304" pitchFamily="18" charset="0"/>
              </a:rPr>
              <a:t>Converts sunlight into electrical energy.</a:t>
            </a:r>
          </a:p>
          <a:p>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Battery Pack (7.35V) : </a:t>
            </a:r>
            <a:r>
              <a:rPr lang="en-US" sz="2200" dirty="0">
                <a:latin typeface="Times New Roman" panose="02020603050405020304" pitchFamily="18" charset="0"/>
                <a:cs typeface="Times New Roman" panose="02020603050405020304" pitchFamily="18" charset="0"/>
              </a:rPr>
              <a:t>Stores energy to power the system when sunlight is low.</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802215"/>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39A3-A41E-4A2C-36F2-41D4B5E2746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8306254-6E7E-FD84-DAC8-DE78B5408501}"/>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PROTOTYPE PHASE – BUILDING THE CONCEPT</a:t>
            </a:r>
          </a:p>
        </p:txBody>
      </p:sp>
      <p:pic>
        <p:nvPicPr>
          <p:cNvPr id="8" name="Picture 7">
            <a:extLst>
              <a:ext uri="{FF2B5EF4-FFF2-40B4-BE49-F238E27FC236}">
                <a16:creationId xmlns:a16="http://schemas.microsoft.com/office/drawing/2014/main" id="{4D6BD69E-3FA3-624C-BACD-B4F4391BE191}"/>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99FFC3AD-C3E2-C23E-3E0D-01C68A41FDBD}"/>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a:extLst>
              <a:ext uri="{FF2B5EF4-FFF2-40B4-BE49-F238E27FC236}">
                <a16:creationId xmlns:a16="http://schemas.microsoft.com/office/drawing/2014/main" id="{C904B056-D831-7366-439F-694E3ED44748}"/>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4" name="TextBox 3">
            <a:extLst>
              <a:ext uri="{FF2B5EF4-FFF2-40B4-BE49-F238E27FC236}">
                <a16:creationId xmlns:a16="http://schemas.microsoft.com/office/drawing/2014/main" id="{5DA8A257-1678-B5F7-F5D0-3BEB9C9747ED}"/>
              </a:ext>
            </a:extLst>
          </p:cNvPr>
          <p:cNvSpPr txBox="1"/>
          <p:nvPr/>
        </p:nvSpPr>
        <p:spPr>
          <a:xfrm>
            <a:off x="668545" y="2507196"/>
            <a:ext cx="10954138" cy="3139321"/>
          </a:xfrm>
          <a:prstGeom prst="rect">
            <a:avLst/>
          </a:prstGeom>
          <a:noFill/>
        </p:spPr>
        <p:txBody>
          <a:bodyPr wrap="square">
            <a:spAutoFit/>
          </a:bodyPr>
          <a:lstStyle/>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Voltage Sensor (25V) : </a:t>
            </a:r>
            <a:r>
              <a:rPr lang="en-US" sz="2200" dirty="0">
                <a:latin typeface="Times New Roman" panose="02020603050405020304" pitchFamily="18" charset="0"/>
                <a:cs typeface="Times New Roman" panose="02020603050405020304" pitchFamily="18" charset="0"/>
              </a:rPr>
              <a:t>Measures voltage from the solar panel or battery.</a:t>
            </a:r>
          </a:p>
          <a:p>
            <a:pPr marL="457200" indent="-4572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LM7805 Voltage Regulator (10V to 5V) : </a:t>
            </a:r>
            <a:r>
              <a:rPr lang="en-US" sz="2200" dirty="0">
                <a:latin typeface="Times New Roman" panose="02020603050405020304" pitchFamily="18" charset="0"/>
                <a:cs typeface="Times New Roman" panose="02020603050405020304" pitchFamily="18" charset="0"/>
              </a:rPr>
              <a:t>Reduces voltage to a safe 5V for components.</a:t>
            </a:r>
          </a:p>
          <a:p>
            <a:pPr marL="457200" indent="-4572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DC-DC Buck Converter (25V to 5V) :</a:t>
            </a:r>
            <a:r>
              <a:rPr lang="en-US" sz="2200" dirty="0">
                <a:latin typeface="Times New Roman" panose="02020603050405020304" pitchFamily="18" charset="0"/>
                <a:cs typeface="Times New Roman" panose="02020603050405020304" pitchFamily="18" charset="0"/>
              </a:rPr>
              <a:t> Converts high or variable DC voltage to stable 5V.</a:t>
            </a:r>
          </a:p>
          <a:p>
            <a:pPr marL="457200" indent="-4572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LCD Display (5V) with I2C : </a:t>
            </a:r>
            <a:r>
              <a:rPr lang="en-US" sz="2200" dirty="0">
                <a:latin typeface="Times New Roman" panose="02020603050405020304" pitchFamily="18" charset="0"/>
                <a:cs typeface="Times New Roman" panose="02020603050405020304" pitchFamily="18" charset="0"/>
              </a:rPr>
              <a:t>Shows real-time data like voltage and light levels.</a:t>
            </a:r>
          </a:p>
          <a:p>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ON/OFF : </a:t>
            </a:r>
            <a:r>
              <a:rPr lang="en-US" sz="2200" dirty="0">
                <a:latin typeface="Times New Roman" panose="02020603050405020304" pitchFamily="18" charset="0"/>
                <a:cs typeface="Times New Roman" panose="02020603050405020304" pitchFamily="18" charset="0"/>
              </a:rPr>
              <a:t>Switch turns the system on or off manually.</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063629"/>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CIRCUIT DIAGRAM</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B2DB0BFF-9E4A-5693-CAFE-4498F5FCD9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2760" y="1937618"/>
            <a:ext cx="7751078" cy="4347870"/>
          </a:xfrm>
          <a:prstGeom prst="rect">
            <a:avLst/>
          </a:prstGeom>
        </p:spPr>
      </p:pic>
    </p:spTree>
    <p:extLst>
      <p:ext uri="{BB962C8B-B14F-4D97-AF65-F5344CB8AC3E}">
        <p14:creationId xmlns:p14="http://schemas.microsoft.com/office/powerpoint/2010/main" val="131438611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4019" y="130296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WORKING</a:t>
            </a:r>
            <a:endParaRPr lang="en-US" sz="20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sp>
        <p:nvSpPr>
          <p:cNvPr id="4" name="TextBox 3">
            <a:extLst>
              <a:ext uri="{FF2B5EF4-FFF2-40B4-BE49-F238E27FC236}">
                <a16:creationId xmlns:a16="http://schemas.microsoft.com/office/drawing/2014/main" id="{2A0C384E-B651-2B12-E27D-38D4B59F4735}"/>
              </a:ext>
            </a:extLst>
          </p:cNvPr>
          <p:cNvSpPr txBox="1"/>
          <p:nvPr/>
        </p:nvSpPr>
        <p:spPr>
          <a:xfrm>
            <a:off x="606489" y="2167250"/>
            <a:ext cx="10814179" cy="3586366"/>
          </a:xfrm>
          <a:prstGeom prst="rect">
            <a:avLst/>
          </a:prstGeom>
          <a:noFill/>
        </p:spPr>
        <p:txBody>
          <a:bodyPr wrap="square">
            <a:spAutoFit/>
          </a:bodyPr>
          <a:lstStyle/>
          <a:p>
            <a:pPr algn="just">
              <a:lnSpc>
                <a:spcPct val="150000"/>
              </a:lnSpc>
            </a:pPr>
            <a:r>
              <a:rPr lang="en-IN" sz="2200" dirty="0">
                <a:latin typeface="Times New Roman" panose="02020603050405020304" pitchFamily="18" charset="0"/>
                <a:cs typeface="Times New Roman" panose="02020603050405020304" pitchFamily="18" charset="0"/>
              </a:rPr>
              <a:t>This AI-powered solar tracking system automatically rotates the solar panel to face the direction of maximum sunlight. It uses LDR sensors to detect light intensity from different directions. The Arduino Uno processes this data and controls a servo motor to adjust the panel’s position. A solar panel generates power and charges a 7.35V battery. A voltage sensor monitors power levels, and a DC-DC converter regulates the voltage to 5V for the components. An LCD with an I2C module displays real-time information. This smart system increases energy efficiency by keeping the solar panel aligned with the sun throughout the day.</a:t>
            </a:r>
          </a:p>
        </p:txBody>
      </p:sp>
    </p:spTree>
    <p:extLst>
      <p:ext uri="{BB962C8B-B14F-4D97-AF65-F5344CB8AC3E}">
        <p14:creationId xmlns:p14="http://schemas.microsoft.com/office/powerpoint/2010/main" val="85068520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67EF02-7F23-3C43-6A11-57BCE934532A}"/>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3343EB38-73AC-38C3-0CCC-189A5BC1C0BA}"/>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5" name="Picture 4">
            <a:extLst>
              <a:ext uri="{FF2B5EF4-FFF2-40B4-BE49-F238E27FC236}">
                <a16:creationId xmlns:a16="http://schemas.microsoft.com/office/drawing/2014/main" id="{290C8198-704E-EA60-6FA1-5A1921C62F0D}"/>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6" name="Rectangle 5">
            <a:extLst>
              <a:ext uri="{FF2B5EF4-FFF2-40B4-BE49-F238E27FC236}">
                <a16:creationId xmlns:a16="http://schemas.microsoft.com/office/drawing/2014/main" id="{623134FF-C7C7-66D1-0586-719B01BDBC3F}"/>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HARDWARE PHOTO</a:t>
            </a:r>
          </a:p>
        </p:txBody>
      </p:sp>
      <p:pic>
        <p:nvPicPr>
          <p:cNvPr id="7" name="Picture 6">
            <a:extLst>
              <a:ext uri="{FF2B5EF4-FFF2-40B4-BE49-F238E27FC236}">
                <a16:creationId xmlns:a16="http://schemas.microsoft.com/office/drawing/2014/main" id="{5CDFE084-8531-6B7C-C80C-8E7A36A2E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2335" y="1904879"/>
            <a:ext cx="8353033" cy="4683967"/>
          </a:xfrm>
          <a:prstGeom prst="rect">
            <a:avLst/>
          </a:prstGeom>
        </p:spPr>
      </p:pic>
    </p:spTree>
    <p:extLst>
      <p:ext uri="{BB962C8B-B14F-4D97-AF65-F5344CB8AC3E}">
        <p14:creationId xmlns:p14="http://schemas.microsoft.com/office/powerpoint/2010/main" val="2442501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6D8522-EF70-75ED-8771-474E9267D0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TEST PHASE – USER FEEDBACK</a:t>
            </a:r>
          </a:p>
        </p:txBody>
      </p:sp>
      <p:pic>
        <p:nvPicPr>
          <p:cNvPr id="8" name="Picture 7">
            <a:extLst>
              <a:ext uri="{FF2B5EF4-FFF2-40B4-BE49-F238E27FC236}">
                <a16:creationId xmlns:a16="http://schemas.microsoft.com/office/drawing/2014/main" id="{AACC1C39-0252-6927-4745-4FF3028C0EC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9" name="Picture 8">
            <a:extLst>
              <a:ext uri="{FF2B5EF4-FFF2-40B4-BE49-F238E27FC236}">
                <a16:creationId xmlns:a16="http://schemas.microsoft.com/office/drawing/2014/main" id="{B4623304-5C5F-A8A9-DE75-3BFF4F106A5A}"/>
              </a:ext>
            </a:extLst>
          </p:cNvPr>
          <p:cNvPicPr>
            <a:picLocks noChangeAspect="1"/>
          </p:cNvPicPr>
          <p:nvPr/>
        </p:nvPicPr>
        <p:blipFill rotWithShape="1">
          <a:blip r:embed="rId3"/>
          <a:srcRect l="17820" r="18861"/>
          <a:stretch/>
        </p:blipFill>
        <p:spPr>
          <a:xfrm>
            <a:off x="11282517" y="191728"/>
            <a:ext cx="680332" cy="635895"/>
          </a:xfrm>
          <a:prstGeom prst="rect">
            <a:avLst/>
          </a:prstGeom>
        </p:spPr>
      </p:pic>
      <p:pic>
        <p:nvPicPr>
          <p:cNvPr id="10" name="Picture 9"/>
          <p:cNvPicPr>
            <a:picLocks noChangeAspect="1"/>
          </p:cNvPicPr>
          <p:nvPr/>
        </p:nvPicPr>
        <p:blipFill>
          <a:blip r:embed="rId4" cstate="print"/>
          <a:stretch>
            <a:fillRect/>
          </a:stretch>
        </p:blipFill>
        <p:spPr>
          <a:xfrm>
            <a:off x="5928852" y="269154"/>
            <a:ext cx="979948" cy="736822"/>
          </a:xfrm>
          <a:prstGeom prst="rect">
            <a:avLst/>
          </a:prstGeom>
        </p:spPr>
      </p:pic>
      <p:pic>
        <p:nvPicPr>
          <p:cNvPr id="6" name="Picture 5">
            <a:extLst>
              <a:ext uri="{FF2B5EF4-FFF2-40B4-BE49-F238E27FC236}">
                <a16:creationId xmlns:a16="http://schemas.microsoft.com/office/drawing/2014/main" id="{189B4D19-A544-A170-B9FA-7D2DF2D5523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91682" y="1937618"/>
            <a:ext cx="3965510" cy="4509835"/>
          </a:xfrm>
          <a:prstGeom prst="rect">
            <a:avLst/>
          </a:prstGeom>
        </p:spPr>
      </p:pic>
      <p:pic>
        <p:nvPicPr>
          <p:cNvPr id="12" name="Picture 11">
            <a:extLst>
              <a:ext uri="{FF2B5EF4-FFF2-40B4-BE49-F238E27FC236}">
                <a16:creationId xmlns:a16="http://schemas.microsoft.com/office/drawing/2014/main" id="{09238A28-0DC4-C7DD-E909-8796EAC3D9C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34065" y="1991160"/>
            <a:ext cx="3676262" cy="4456295"/>
          </a:xfrm>
          <a:prstGeom prst="rect">
            <a:avLst/>
          </a:prstGeom>
        </p:spPr>
      </p:pic>
    </p:spTree>
    <p:extLst>
      <p:ext uri="{BB962C8B-B14F-4D97-AF65-F5344CB8AC3E}">
        <p14:creationId xmlns:p14="http://schemas.microsoft.com/office/powerpoint/2010/main" val="1741107881"/>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930B7-28C2-54FC-0D51-C7112B32868D}"/>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3" name="Picture 2">
            <a:extLst>
              <a:ext uri="{FF2B5EF4-FFF2-40B4-BE49-F238E27FC236}">
                <a16:creationId xmlns:a16="http://schemas.microsoft.com/office/drawing/2014/main" id="{46D6561F-F9BE-8643-B738-A906EF980E0C}"/>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A49ADBF7-8150-1077-302B-761C81B1A227}"/>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5" name="Rectangle 4">
            <a:extLst>
              <a:ext uri="{FF2B5EF4-FFF2-40B4-BE49-F238E27FC236}">
                <a16:creationId xmlns:a16="http://schemas.microsoft.com/office/drawing/2014/main" id="{D033AA40-5DF9-712A-6FDF-16B0C9001D6D}"/>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FINAL SOLUTION AND VALUE PROPOSITION</a:t>
            </a:r>
            <a:endParaRPr lang="en-US" sz="2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C7FF98CC-822E-910F-F3CE-E8B311241272}"/>
              </a:ext>
            </a:extLst>
          </p:cNvPr>
          <p:cNvSpPr>
            <a:spLocks noChangeArrowheads="1"/>
          </p:cNvSpPr>
          <p:nvPr/>
        </p:nvSpPr>
        <p:spPr bwMode="auto">
          <a:xfrm rot="10800000" flipV="1">
            <a:off x="642257" y="1785955"/>
            <a:ext cx="10907486"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Refined Design:</a:t>
            </a:r>
            <a:b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Compact AI-enabled solar tracking with user display and efficient voltage monitoring</a:t>
            </a:r>
          </a:p>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a:t>
            </a:r>
            <a:r>
              <a:rPr lang="en-US" altLang="en-US" sz="2200" b="1" dirty="0">
                <a:latin typeface="Times New Roman" panose="02020603050405020304" pitchFamily="18" charset="0"/>
                <a:cs typeface="Times New Roman" panose="02020603050405020304" pitchFamily="18" charset="0"/>
              </a:rPr>
              <a:t>m</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eets User Needs: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sunlight alignment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Durable and scalable</a:t>
            </a:r>
          </a:p>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Unique Value: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affordability with advanced functionality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Ideal for educational, rural, and renewable energy applications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572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862FE86-9AB3-45EE-0EE2-B7E1F06B946E}"/>
              </a:ext>
            </a:extLst>
          </p:cNvPr>
          <p:cNvPicPr>
            <a:picLocks noChangeAspect="1"/>
          </p:cNvPicPr>
          <p:nvPr/>
        </p:nvPicPr>
        <p:blipFill>
          <a:blip r:embed="rId2" cstate="print"/>
          <a:srcRect t="20925" b="14217"/>
          <a:stretch>
            <a:fillRect/>
          </a:stretch>
        </p:blipFill>
        <p:spPr>
          <a:xfrm>
            <a:off x="146668" y="81948"/>
            <a:ext cx="2816934" cy="958645"/>
          </a:xfrm>
          <a:prstGeom prst="rect">
            <a:avLst/>
          </a:prstGeom>
        </p:spPr>
      </p:pic>
      <p:pic>
        <p:nvPicPr>
          <p:cNvPr id="3" name="Picture 2">
            <a:extLst>
              <a:ext uri="{FF2B5EF4-FFF2-40B4-BE49-F238E27FC236}">
                <a16:creationId xmlns:a16="http://schemas.microsoft.com/office/drawing/2014/main" id="{218F53B6-254D-6F32-CC8B-2AACF99F6724}"/>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062BFFB0-392D-ACBE-4545-81254AB2ED3F}"/>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6" name="AutoShape 2">
            <a:extLst>
              <a:ext uri="{FF2B5EF4-FFF2-40B4-BE49-F238E27FC236}">
                <a16:creationId xmlns:a16="http://schemas.microsoft.com/office/drawing/2014/main" id="{3548D90A-5725-CA36-FD54-F636C046BA18}"/>
              </a:ext>
            </a:extLst>
          </p:cNvPr>
          <p:cNvSpPr>
            <a:spLocks noChangeAspect="1" noChangeArrowheads="1"/>
          </p:cNvSpPr>
          <p:nvPr/>
        </p:nvSpPr>
        <p:spPr bwMode="auto">
          <a:xfrm>
            <a:off x="1632857" y="1959429"/>
            <a:ext cx="9153331" cy="36389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2244630-1BAF-1A48-41E7-F2BFC9417634}"/>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IMPLEMENTATION PLAN</a:t>
            </a:r>
          </a:p>
        </p:txBody>
      </p:sp>
      <p:sp>
        <p:nvSpPr>
          <p:cNvPr id="5" name="Rectangle 1">
            <a:extLst>
              <a:ext uri="{FF2B5EF4-FFF2-40B4-BE49-F238E27FC236}">
                <a16:creationId xmlns:a16="http://schemas.microsoft.com/office/drawing/2014/main" id="{62A56A84-6725-0EE0-23B1-967399862896}"/>
              </a:ext>
            </a:extLst>
          </p:cNvPr>
          <p:cNvSpPr>
            <a:spLocks noChangeArrowheads="1"/>
          </p:cNvSpPr>
          <p:nvPr/>
        </p:nvSpPr>
        <p:spPr bwMode="auto">
          <a:xfrm rot="10800000" flipV="1">
            <a:off x="435880" y="2067271"/>
            <a:ext cx="1175612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Planning &amp; Component Collection</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Identify the problem and decide project features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Design the circuit and gather all required components (Arduino, LDRs, servo, etc.)</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Prototype Development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Connect components and build the system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Write Arduino code for tracking and voltage display and test basic panel movement using LDR and servo motor</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AI Integration &amp; Testing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Test the system under sunlight and collect feedback for improvement</a:t>
            </a:r>
          </a:p>
          <a:p>
            <a:pPr marL="342900" indent="-342900">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603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2C768A-536A-BA36-1B59-190F233FB9FF}"/>
              </a:ext>
            </a:extLst>
          </p:cNvPr>
          <p:cNvPicPr>
            <a:picLocks noChangeAspect="1"/>
          </p:cNvPicPr>
          <p:nvPr/>
        </p:nvPicPr>
        <p:blipFill rotWithShape="1">
          <a:blip r:embed="rId2"/>
          <a:srcRect l="17820" r="18861"/>
          <a:stretch/>
        </p:blipFill>
        <p:spPr>
          <a:xfrm>
            <a:off x="11282517" y="191728"/>
            <a:ext cx="680332" cy="635895"/>
          </a:xfrm>
          <a:prstGeom prst="rect">
            <a:avLst/>
          </a:prstGeom>
        </p:spPr>
      </p:pic>
      <p:pic>
        <p:nvPicPr>
          <p:cNvPr id="3" name="Picture 2">
            <a:extLst>
              <a:ext uri="{FF2B5EF4-FFF2-40B4-BE49-F238E27FC236}">
                <a16:creationId xmlns:a16="http://schemas.microsoft.com/office/drawing/2014/main" id="{20C0F579-0DB1-5948-ED03-F9CA842C4804}"/>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19F33DEA-0429-3EF1-2129-40155DF199D4}"/>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7" name="Rectangle 6">
            <a:extLst>
              <a:ext uri="{FF2B5EF4-FFF2-40B4-BE49-F238E27FC236}">
                <a16:creationId xmlns:a16="http://schemas.microsoft.com/office/drawing/2014/main" id="{1C4AC58E-A903-1D3E-E935-7F8714DEDB63}"/>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 IMPACT &amp; BENEFITS</a:t>
            </a:r>
          </a:p>
        </p:txBody>
      </p:sp>
      <p:sp>
        <p:nvSpPr>
          <p:cNvPr id="5" name="Rectangle 1">
            <a:extLst>
              <a:ext uri="{FF2B5EF4-FFF2-40B4-BE49-F238E27FC236}">
                <a16:creationId xmlns:a16="http://schemas.microsoft.com/office/drawing/2014/main" id="{1D0A7D93-FCBA-D433-FE31-0092DE83799D}"/>
              </a:ext>
            </a:extLst>
          </p:cNvPr>
          <p:cNvSpPr>
            <a:spLocks noChangeArrowheads="1"/>
          </p:cNvSpPr>
          <p:nvPr/>
        </p:nvSpPr>
        <p:spPr bwMode="auto">
          <a:xfrm rot="10800000" flipV="1">
            <a:off x="1245889" y="1937618"/>
            <a:ext cx="10036628"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 on Users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30–40% more energy harnessed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manual work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Hands-on STEM learning for students</a:t>
            </a:r>
          </a:p>
          <a:p>
            <a:pPr marR="0" lvl="0" algn="l" defTabSz="914400" rtl="0" eaLnBrk="0" fontAlgn="base" latinLnBrk="0" hangingPunct="0">
              <a:lnSpc>
                <a:spcPct val="15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Broader Benefits: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renewable energy movement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innovation in low-resource settings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Educates the next generation on sustainable tech</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6761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C330F9-208B-141C-46BA-B726590B1544}"/>
              </a:ext>
            </a:extLst>
          </p:cNvPr>
          <p:cNvPicPr>
            <a:picLocks noChangeAspect="1"/>
          </p:cNvPicPr>
          <p:nvPr/>
        </p:nvPicPr>
        <p:blipFill rotWithShape="1">
          <a:blip r:embed="rId2"/>
          <a:srcRect l="17820" r="18861"/>
          <a:stretch/>
        </p:blipFill>
        <p:spPr>
          <a:xfrm>
            <a:off x="11282517" y="191728"/>
            <a:ext cx="680332" cy="635895"/>
          </a:xfrm>
          <a:prstGeom prst="rect">
            <a:avLst/>
          </a:prstGeom>
        </p:spPr>
      </p:pic>
      <p:pic>
        <p:nvPicPr>
          <p:cNvPr id="3" name="Picture 2">
            <a:extLst>
              <a:ext uri="{FF2B5EF4-FFF2-40B4-BE49-F238E27FC236}">
                <a16:creationId xmlns:a16="http://schemas.microsoft.com/office/drawing/2014/main" id="{8499FA64-E655-CB45-EA92-4DF1DE1605E9}"/>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90D38E5E-AFC5-3A16-C57A-0DB98C75C6F2}"/>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5" name="Rectangle 4">
            <a:extLst>
              <a:ext uri="{FF2B5EF4-FFF2-40B4-BE49-F238E27FC236}">
                <a16:creationId xmlns:a16="http://schemas.microsoft.com/office/drawing/2014/main" id="{3B455F45-CC91-DF38-4BEF-BB5B9C5EA1FD}"/>
              </a:ext>
            </a:extLst>
          </p:cNvPr>
          <p:cNvSpPr/>
          <p:nvPr/>
        </p:nvSpPr>
        <p:spPr>
          <a:xfrm>
            <a:off x="178887" y="1305954"/>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CHALLENGES AND LEARNING</a:t>
            </a:r>
          </a:p>
        </p:txBody>
      </p:sp>
      <p:sp>
        <p:nvSpPr>
          <p:cNvPr id="6" name="Rectangle 1">
            <a:extLst>
              <a:ext uri="{FF2B5EF4-FFF2-40B4-BE49-F238E27FC236}">
                <a16:creationId xmlns:a16="http://schemas.microsoft.com/office/drawing/2014/main" id="{D972BE18-3542-3ABE-0586-4BA17C061A75}"/>
              </a:ext>
            </a:extLst>
          </p:cNvPr>
          <p:cNvSpPr>
            <a:spLocks noChangeArrowheads="1"/>
          </p:cNvSpPr>
          <p:nvPr/>
        </p:nvSpPr>
        <p:spPr bwMode="auto">
          <a:xfrm rot="10800000" flipV="1">
            <a:off x="1250300" y="1804617"/>
            <a:ext cx="10829731"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Challenges: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Calibration of LDRs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Powering the motor efficiently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Getting accurate voltage reading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Lessons Learned: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iterative prototyping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feedback is crucial for refinement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implementation differs from theory</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0196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5031EF-2D23-73DD-57E4-AF2340F3CAC3}"/>
              </a:ext>
            </a:extLst>
          </p:cNvPr>
          <p:cNvPicPr>
            <a:picLocks noChangeAspect="1"/>
          </p:cNvPicPr>
          <p:nvPr/>
        </p:nvPicPr>
        <p:blipFill rotWithShape="1">
          <a:blip r:embed="rId2"/>
          <a:srcRect l="17820" r="18861"/>
          <a:stretch/>
        </p:blipFill>
        <p:spPr>
          <a:xfrm>
            <a:off x="11282517" y="191728"/>
            <a:ext cx="680332" cy="635895"/>
          </a:xfrm>
          <a:prstGeom prst="rect">
            <a:avLst/>
          </a:prstGeom>
        </p:spPr>
      </p:pic>
      <p:pic>
        <p:nvPicPr>
          <p:cNvPr id="3" name="Picture 2">
            <a:extLst>
              <a:ext uri="{FF2B5EF4-FFF2-40B4-BE49-F238E27FC236}">
                <a16:creationId xmlns:a16="http://schemas.microsoft.com/office/drawing/2014/main" id="{4B21EEBA-C10A-767B-0C96-E139E5E543D5}"/>
              </a:ext>
            </a:extLst>
          </p:cNvPr>
          <p:cNvPicPr>
            <a:picLocks noChangeAspect="1"/>
          </p:cNvPicPr>
          <p:nvPr/>
        </p:nvPicPr>
        <p:blipFill>
          <a:blip r:embed="rId3" cstate="print"/>
          <a:srcRect t="20925" b="14217"/>
          <a:stretch>
            <a:fillRect/>
          </a:stretch>
        </p:blipFill>
        <p:spPr>
          <a:xfrm>
            <a:off x="235983" y="176984"/>
            <a:ext cx="2816934" cy="958645"/>
          </a:xfrm>
          <a:prstGeom prst="rect">
            <a:avLst/>
          </a:prstGeom>
        </p:spPr>
      </p:pic>
      <p:pic>
        <p:nvPicPr>
          <p:cNvPr id="4" name="Picture 3">
            <a:extLst>
              <a:ext uri="{FF2B5EF4-FFF2-40B4-BE49-F238E27FC236}">
                <a16:creationId xmlns:a16="http://schemas.microsoft.com/office/drawing/2014/main" id="{1ED592C3-5F26-CF4B-9096-9DB8C1CC3B35}"/>
              </a:ext>
            </a:extLst>
          </p:cNvPr>
          <p:cNvPicPr>
            <a:picLocks noChangeAspect="1"/>
          </p:cNvPicPr>
          <p:nvPr/>
        </p:nvPicPr>
        <p:blipFill>
          <a:blip r:embed="rId4" cstate="print"/>
          <a:stretch>
            <a:fillRect/>
          </a:stretch>
        </p:blipFill>
        <p:spPr>
          <a:xfrm>
            <a:off x="5928852" y="269154"/>
            <a:ext cx="979948" cy="736822"/>
          </a:xfrm>
          <a:prstGeom prst="rect">
            <a:avLst/>
          </a:prstGeom>
        </p:spPr>
      </p:pic>
      <p:sp>
        <p:nvSpPr>
          <p:cNvPr id="5" name="Rectangle 4">
            <a:extLst>
              <a:ext uri="{FF2B5EF4-FFF2-40B4-BE49-F238E27FC236}">
                <a16:creationId xmlns:a16="http://schemas.microsoft.com/office/drawing/2014/main" id="{52C41381-DADC-19BC-C205-87F7865F6A45}"/>
              </a:ext>
            </a:extLst>
          </p:cNvPr>
          <p:cNvSpPr/>
          <p:nvPr/>
        </p:nvSpPr>
        <p:spPr>
          <a:xfrm>
            <a:off x="204019" y="1466680"/>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6FD52AFF-63FB-4503-68C4-C4DBDC67D01B}"/>
              </a:ext>
            </a:extLst>
          </p:cNvPr>
          <p:cNvSpPr txBox="1"/>
          <p:nvPr/>
        </p:nvSpPr>
        <p:spPr>
          <a:xfrm>
            <a:off x="434483" y="2501668"/>
            <a:ext cx="11323033" cy="3078535"/>
          </a:xfrm>
          <a:prstGeom prst="rect">
            <a:avLst/>
          </a:prstGeom>
          <a:noFill/>
        </p:spPr>
        <p:txBody>
          <a:bodyPr wrap="square">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This project successfully addresses the problem of inefficient solar energy usage through a practical and smart solution. By using real-time sunlight tracking and incorporating AI potential, it ensures optimized solar energy harvesting. It offers great value in energy sustainability, user accessibility, and long-term cost-effectiveness. The system is scalable, energy-efficient, and adaptable for both rural and urban settings. With further development, it has the potential to contribute significantly to clean energy adoption and environmental impact reduction.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546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7D928B-FF6E-7AF2-9EBF-67314351ACD0}"/>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3" name="Picture 2">
            <a:extLst>
              <a:ext uri="{FF2B5EF4-FFF2-40B4-BE49-F238E27FC236}">
                <a16:creationId xmlns:a16="http://schemas.microsoft.com/office/drawing/2014/main" id="{9517D804-36B1-1B87-CF43-0E1E2A876C74}"/>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0C22B2A7-60F2-EE47-035E-0AF2C8AB0CC9}"/>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5" name="Rectangle 4">
            <a:extLst>
              <a:ext uri="{FF2B5EF4-FFF2-40B4-BE49-F238E27FC236}">
                <a16:creationId xmlns:a16="http://schemas.microsoft.com/office/drawing/2014/main" id="{168FF366-231A-7F22-A1D8-0DB2D66DF726}"/>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FUTURE ENHANCEMENT</a:t>
            </a:r>
          </a:p>
        </p:txBody>
      </p:sp>
      <p:sp>
        <p:nvSpPr>
          <p:cNvPr id="9" name="TextBox 8">
            <a:extLst>
              <a:ext uri="{FF2B5EF4-FFF2-40B4-BE49-F238E27FC236}">
                <a16:creationId xmlns:a16="http://schemas.microsoft.com/office/drawing/2014/main" id="{53A7C423-AB90-319C-86A6-9A2206CEE2F8}"/>
              </a:ext>
            </a:extLst>
          </p:cNvPr>
          <p:cNvSpPr txBox="1"/>
          <p:nvPr/>
        </p:nvSpPr>
        <p:spPr>
          <a:xfrm>
            <a:off x="591678" y="1937618"/>
            <a:ext cx="11008643" cy="4154984"/>
          </a:xfrm>
          <a:prstGeom prst="rect">
            <a:avLst/>
          </a:prstGeom>
          <a:noFill/>
        </p:spPr>
        <p:txBody>
          <a:bodyPr wrap="square">
            <a:spAutoFit/>
          </a:bodyPr>
          <a:lstStyle/>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Integration of IoT (Internet of Things)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 Enable remote monitoring of solar output and system status via mobile apps or cloud dashboards.</a:t>
            </a: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AI-Based Predictive Tracking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 Use machine learning to predict sun movement based on location, time, and weather data for proactive panel adjustment.</a:t>
            </a: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Self-Cleaning Mechanism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 Add an automated cleaning system to remove dust or debris from the panel surface to maintain optimal performance.</a:t>
            </a:r>
          </a:p>
          <a:p>
            <a:pPr marL="342900" indent="-342900">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532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6E0A3-7C07-626B-EA52-F3C2DF0CCAE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64D1F1-F69C-3895-205B-10478993545D}"/>
              </a:ext>
            </a:extLst>
          </p:cNvPr>
          <p:cNvPicPr>
            <a:picLocks noChangeAspect="1"/>
          </p:cNvPicPr>
          <p:nvPr/>
        </p:nvPicPr>
        <p:blipFill>
          <a:blip r:embed="rId2" cstate="print"/>
          <a:srcRect t="20925" b="14217"/>
          <a:stretch>
            <a:fillRect/>
          </a:stretch>
        </p:blipFill>
        <p:spPr>
          <a:xfrm>
            <a:off x="235983" y="176984"/>
            <a:ext cx="2816934" cy="958645"/>
          </a:xfrm>
          <a:prstGeom prst="rect">
            <a:avLst/>
          </a:prstGeom>
        </p:spPr>
      </p:pic>
      <p:pic>
        <p:nvPicPr>
          <p:cNvPr id="3" name="Picture 2">
            <a:extLst>
              <a:ext uri="{FF2B5EF4-FFF2-40B4-BE49-F238E27FC236}">
                <a16:creationId xmlns:a16="http://schemas.microsoft.com/office/drawing/2014/main" id="{8052BB93-C8F5-B6B6-8B4A-0A31172AC238}"/>
              </a:ext>
            </a:extLst>
          </p:cNvPr>
          <p:cNvPicPr>
            <a:picLocks noChangeAspect="1"/>
          </p:cNvPicPr>
          <p:nvPr/>
        </p:nvPicPr>
        <p:blipFill>
          <a:blip r:embed="rId3" cstate="print"/>
          <a:stretch>
            <a:fillRect/>
          </a:stretch>
        </p:blipFill>
        <p:spPr>
          <a:xfrm>
            <a:off x="5928852" y="269154"/>
            <a:ext cx="979948" cy="736822"/>
          </a:xfrm>
          <a:prstGeom prst="rect">
            <a:avLst/>
          </a:prstGeom>
        </p:spPr>
      </p:pic>
      <p:pic>
        <p:nvPicPr>
          <p:cNvPr id="4" name="Picture 3">
            <a:extLst>
              <a:ext uri="{FF2B5EF4-FFF2-40B4-BE49-F238E27FC236}">
                <a16:creationId xmlns:a16="http://schemas.microsoft.com/office/drawing/2014/main" id="{12420810-E080-4A4D-EAC7-76A32201930F}"/>
              </a:ext>
            </a:extLst>
          </p:cNvPr>
          <p:cNvPicPr>
            <a:picLocks noChangeAspect="1"/>
          </p:cNvPicPr>
          <p:nvPr/>
        </p:nvPicPr>
        <p:blipFill rotWithShape="1">
          <a:blip r:embed="rId4"/>
          <a:srcRect l="17820" r="18861"/>
          <a:stretch/>
        </p:blipFill>
        <p:spPr>
          <a:xfrm>
            <a:off x="11282517" y="191728"/>
            <a:ext cx="680332" cy="635895"/>
          </a:xfrm>
          <a:prstGeom prst="rect">
            <a:avLst/>
          </a:prstGeom>
        </p:spPr>
      </p:pic>
      <p:sp>
        <p:nvSpPr>
          <p:cNvPr id="5" name="Rectangle 4">
            <a:extLst>
              <a:ext uri="{FF2B5EF4-FFF2-40B4-BE49-F238E27FC236}">
                <a16:creationId xmlns:a16="http://schemas.microsoft.com/office/drawing/2014/main" id="{4795D279-810A-8BA2-6E12-559634FC9980}"/>
              </a:ext>
            </a:extLst>
          </p:cNvPr>
          <p:cNvSpPr/>
          <p:nvPr/>
        </p:nvSpPr>
        <p:spPr>
          <a:xfrm>
            <a:off x="206477" y="1287292"/>
            <a:ext cx="11783962" cy="498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REFERENCE</a:t>
            </a:r>
          </a:p>
        </p:txBody>
      </p:sp>
      <p:sp>
        <p:nvSpPr>
          <p:cNvPr id="7" name="TextBox 6">
            <a:extLst>
              <a:ext uri="{FF2B5EF4-FFF2-40B4-BE49-F238E27FC236}">
                <a16:creationId xmlns:a16="http://schemas.microsoft.com/office/drawing/2014/main" id="{6201F9FC-FDF1-6D92-B3D2-07EDE0171D47}"/>
              </a:ext>
            </a:extLst>
          </p:cNvPr>
          <p:cNvSpPr txBox="1"/>
          <p:nvPr/>
        </p:nvSpPr>
        <p:spPr>
          <a:xfrm>
            <a:off x="481932" y="2477818"/>
            <a:ext cx="11140751" cy="3816429"/>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[1] A. Singh and R. Gupta, “Automatic solar tracking system using Arduino,” in 2021 Int. Conf. on Sustainable Energy and Future Electric Transportation (SEFET), 2021, pp. 1–5.</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[2] M. B. Gholam and A. T. Rashid, “AI-based solar tracking for energy efficiency,” in 2020 IEEE Int. Conf. on Smart Energy Grid Engineering (SEGE), 2020, pp. 58–63.</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[3] A. A. </a:t>
            </a:r>
            <a:r>
              <a:rPr lang="en-IN" sz="2200" dirty="0" err="1">
                <a:latin typeface="Times New Roman" panose="02020603050405020304" pitchFamily="18" charset="0"/>
                <a:cs typeface="Times New Roman" panose="02020603050405020304" pitchFamily="18" charset="0"/>
              </a:rPr>
              <a:t>Osunlola</a:t>
            </a:r>
            <a:r>
              <a:rPr lang="en-IN" sz="2200" dirty="0">
                <a:latin typeface="Times New Roman" panose="02020603050405020304" pitchFamily="18" charset="0"/>
                <a:cs typeface="Times New Roman" panose="02020603050405020304" pitchFamily="18" charset="0"/>
              </a:rPr>
              <a:t> et al., “Dual-axis solar tracker using microcontroller,” in 2019 IEEE PES/IAS </a:t>
            </a:r>
            <a:r>
              <a:rPr lang="en-IN" sz="2200" dirty="0" err="1">
                <a:latin typeface="Times New Roman" panose="02020603050405020304" pitchFamily="18" charset="0"/>
                <a:cs typeface="Times New Roman" panose="02020603050405020304" pitchFamily="18" charset="0"/>
              </a:rPr>
              <a:t>PowerAfrica</a:t>
            </a:r>
            <a:r>
              <a:rPr lang="en-IN" sz="2200" dirty="0">
                <a:latin typeface="Times New Roman" panose="02020603050405020304" pitchFamily="18" charset="0"/>
                <a:cs typeface="Times New Roman" panose="02020603050405020304" pitchFamily="18" charset="0"/>
              </a:rPr>
              <a:t>, 2019, pp. 585–589.</a:t>
            </a:r>
          </a:p>
          <a:p>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a:p>
            <a:pPr>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3964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1554</TotalTime>
  <Words>1349</Words>
  <Application>Microsoft Office PowerPoint</Application>
  <PresentationFormat>Widescreen</PresentationFormat>
  <Paragraphs>124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Algerian</vt:lpstr>
      <vt:lpstr>Aptos</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Mokish</dc:creator>
  <cp:lastModifiedBy>Karunya shree S</cp:lastModifiedBy>
  <cp:revision>37</cp:revision>
  <cp:lastPrinted>2024-09-19T16:40:05Z</cp:lastPrinted>
  <dcterms:created xsi:type="dcterms:W3CDTF">2023-10-14T16:50:53Z</dcterms:created>
  <dcterms:modified xsi:type="dcterms:W3CDTF">2025-06-06T00:59:37Z</dcterms:modified>
</cp:coreProperties>
</file>